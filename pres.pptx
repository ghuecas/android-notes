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6" Type="http://schemas.openxmlformats.org/officeDocument/2006/relationships/viewProps" Target="viewProps.xml" /><Relationship Id="rId3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8" Type="http://schemas.openxmlformats.org/officeDocument/2006/relationships/tableStyles" Target="tableStyles.xml" /><Relationship Id="rId3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eveloper.android.com/training/data-storage/room" TargetMode="External" /><Relationship Id="rId3" Type="http://schemas.openxmlformats.org/officeDocument/2006/relationships/hyperlink" Target="https://developer.android.com/jetpack/compose" TargetMode="External" /><Relationship Id="rId4" Type="http://schemas.openxmlformats.org/officeDocument/2006/relationships/hyperlink" Target="https://developer.android.com/guide/navigation" TargetMode="External" /><Relationship Id="rId5" Type="http://schemas.openxmlformats.org/officeDocument/2006/relationships/hyperlink" Target="https://kotlinlang.org/docs/coroutines-overview.html" TargetMode="External" /><Relationship Id="rId6" Type="http://schemas.openxmlformats.org/officeDocument/2006/relationships/hyperlink" Target="https://developer.android.com/topic/architecture" TargetMode="Externa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NotesApp - Arquitectura Android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Aplicación de Notas con Room Database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Visión General de la Arquitectura</a:t>
            </a:r>
          </a:p>
          <a:p>
            <a:pPr lvl="0" indent="-342900" marL="342900">
              <a:buAutoNum type="arabicPeriod"/>
            </a:pPr>
            <a:r>
              <a:rPr/>
              <a:t>Capas de la Aplicación</a:t>
            </a:r>
          </a:p>
          <a:p>
            <a:pPr lvl="0" indent="-342900" marL="342900">
              <a:buAutoNum type="arabicPeriod"/>
            </a:pPr>
            <a:r>
              <a:rPr/>
              <a:t>Capa de Datos (Room Database)</a:t>
            </a:r>
          </a:p>
          <a:p>
            <a:pPr lvl="0" indent="-342900" marL="342900">
              <a:buAutoNum type="arabicPeriod"/>
            </a:pPr>
            <a:r>
              <a:rPr/>
              <a:t>Capa de Dominio (Repository)</a:t>
            </a:r>
          </a:p>
          <a:p>
            <a:pPr lvl="0" indent="-342900" marL="342900">
              <a:buAutoNum type="arabicPeriod"/>
            </a:pPr>
            <a:r>
              <a:rPr/>
              <a:t>Capa de Presentación (ViewModel + UI)</a:t>
            </a:r>
          </a:p>
          <a:p>
            <a:pPr lvl="0" indent="-342900" marL="342900">
              <a:buAutoNum type="arabicPeriod"/>
            </a:pPr>
            <a:r>
              <a:rPr/>
              <a:t>Navegación</a:t>
            </a:r>
          </a:p>
          <a:p>
            <a:pPr lvl="0" indent="-342900" marL="342900">
              <a:buAutoNum type="arabicPeriod"/>
            </a:pPr>
            <a:r>
              <a:rPr/>
              <a:t>Decisiones de Diseño Importantes</a:t>
            </a:r>
          </a:p>
          <a:p>
            <a:pPr lvl="0" indent="-342900" marL="342900">
              <a:buAutoNum type="arabicPeriod"/>
            </a:pPr>
            <a:r>
              <a:rPr/>
              <a:t>Mejoras Implementadas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Visión General de la Arquitectura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Patrón: MVVM + Repository Pattern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┌─────────────────────────────────────┐
│         UI Layer (Compose)          │
│  NoteListScreen | EditNoteScreen    │
└──────────────┬──────────────────────┘
               │
┌──────────────▼──────────────────────┐
│         ViewModel Layer             │
│         NoteViewModel               │
└──────────────┬──────────────────────┘
               │
┌──────────────▼──────────────────────┐
│       Repository Layer              │
│        NoteRepository               │
└──────────────┬──────────────────────┘
               │
┌──────────────▼──────────────────────┐
│      Data Layer (Room)              │
│    NoteDao | NoteDatabase           │
└─────────────────────────────────────┘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Estructura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es.upm.ging.notas/
├── data/
│   ├── Note.kt              (Entity)
│   ├── NoteDao.kt           (DAO)
│   ├── NoteDatabase.kt      (Database)
│   └── NoteRepository.kt    (Repository)
├── ui/
│   ├── NoteViewModel.kt     (ViewModel)
│   ├── screens/
│   │   ├── NoteListScreen.kt
│   │   ├── EditNoteScreen.kt
│   │   └── HelpScreen.kt
│   └── theme/
├── AppNav.kt                (Navigation)
└── MainActivity.kt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Capa de Datos - 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Note.kt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@Entity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tableName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"notes"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data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Note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@</a:t>
            </a:r>
            <a:r>
              <a:rPr>
                <a:solidFill>
                  <a:srgbClr val="19177C"/>
                </a:solidFill>
                <a:latin typeface="Courier"/>
              </a:rPr>
              <a:t>PrimaryKey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autoGenerate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true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Long</a:t>
            </a:r>
            <a:r>
              <a:rPr>
                <a:latin typeface="Courier"/>
              </a:rPr>
              <a:t> = 0L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title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category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content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String</a:t>
            </a:r>
            <a:br/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 b="1"/>
              <a:t>Conceptos clave:</a:t>
            </a:r>
            <a:r>
              <a:rPr/>
              <a:t> - </a:t>
            </a:r>
            <a:r>
              <a:rPr>
                <a:latin typeface="Courier"/>
              </a:rPr>
              <a:t>@Entity</a:t>
            </a:r>
            <a:r>
              <a:rPr/>
              <a:t>: Marca la clase como tabla de base de datos - </a:t>
            </a:r>
            <a:r>
              <a:rPr>
                <a:latin typeface="Courier"/>
              </a:rPr>
              <a:t>@PrimaryKey</a:t>
            </a:r>
            <a:r>
              <a:rPr/>
              <a:t>: Define la clave primaria - </a:t>
            </a:r>
            <a:r>
              <a:rPr>
                <a:latin typeface="Courier"/>
              </a:rPr>
              <a:t>autoGenerate = true</a:t>
            </a:r>
            <a:r>
              <a:rPr/>
              <a:t>: IDs autoincrementales - </a:t>
            </a:r>
            <a:r>
              <a:rPr>
                <a:latin typeface="Courier"/>
              </a:rPr>
              <a:t>data class</a:t>
            </a:r>
            <a:r>
              <a:rPr/>
              <a:t>: Inmutabilidad y funciones automáticas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Capa de Datos - DAO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NoteDao.kt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@Dao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interface</a:t>
            </a:r>
            <a:r>
              <a:rPr>
                <a:latin typeface="Courier"/>
              </a:rPr>
              <a:t> NoteDao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@Query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"SELECT * FROM notes ORDER BY id DESC"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fun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getAllNotes</a:t>
            </a:r>
            <a:r>
              <a:rPr>
                <a:solidFill>
                  <a:srgbClr val="666666"/>
                </a:solidFill>
                <a:latin typeface="Courier"/>
              </a:rPr>
              <a:t>():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Flow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Note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@Query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"</a:t>
            </a:r>
            <a:r>
              <a:rPr>
                <a:solidFill>
                  <a:srgbClr val="19177C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* </a:t>
            </a:r>
            <a:r>
              <a:rPr>
                <a:solidFill>
                  <a:srgbClr val="19177C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notes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:id</a:t>
            </a:r>
            <a:r>
              <a:rPr>
                <a:solidFill>
                  <a:srgbClr val="4070A0"/>
                </a:solidFill>
                <a:latin typeface="Courier"/>
              </a:rPr>
              <a:t>")</a:t>
            </a:r>
            <a:br/>
            <a:r>
              <a:rPr>
                <a:latin typeface="Courier"/>
              </a:rPr>
              <a:t>    fun getNoteById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id: Long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: Flow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Note</a:t>
            </a:r>
            <a:r>
              <a:rPr>
                <a:solidFill>
                  <a:srgbClr val="666666"/>
                </a:solidFill>
                <a:latin typeface="Courier"/>
              </a:rPr>
              <a:t>?&gt;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@</a:t>
            </a:r>
            <a:r>
              <a:rPr>
                <a:solidFill>
                  <a:srgbClr val="902000"/>
                </a:solidFill>
                <a:latin typeface="Courier"/>
              </a:rPr>
              <a:t>Insert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902000"/>
                </a:solidFill>
                <a:latin typeface="Courier"/>
              </a:rPr>
              <a:t>onConflict</a:t>
            </a:r>
            <a:r>
              <a:rPr>
                <a:latin typeface="Courier"/>
              </a:rPr>
              <a:t> = </a:t>
            </a:r>
            <a:r>
              <a:rPr>
                <a:solidFill>
                  <a:srgbClr val="902000"/>
                </a:solidFill>
                <a:latin typeface="Courier"/>
              </a:rPr>
              <a:t>OnConflictStrategy</a:t>
            </a:r>
            <a:r>
              <a:rPr>
                <a:latin typeface="Courier"/>
              </a:rPr>
              <a:t>.</a:t>
            </a:r>
            <a:r>
              <a:rPr>
                <a:solidFill>
                  <a:srgbClr val="902000"/>
                </a:solidFill>
                <a:latin typeface="Courier"/>
              </a:rPr>
              <a:t>REPLACE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suspend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fun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insert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902000"/>
                </a:solidFill>
                <a:latin typeface="Courier"/>
              </a:rPr>
              <a:t>note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Note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Long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@</a:t>
            </a:r>
            <a:r>
              <a:rPr>
                <a:solidFill>
                  <a:srgbClr val="902000"/>
                </a:solidFill>
                <a:latin typeface="Courier"/>
              </a:rPr>
              <a:t>Update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suspend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fun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update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902000"/>
                </a:solidFill>
                <a:latin typeface="Courier"/>
              </a:rPr>
              <a:t>note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Note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@</a:t>
            </a:r>
            <a:r>
              <a:rPr>
                <a:solidFill>
                  <a:srgbClr val="902000"/>
                </a:solidFill>
                <a:latin typeface="Courier"/>
              </a:rPr>
              <a:t>Delete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suspend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fun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delete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902000"/>
                </a:solidFill>
                <a:latin typeface="Courier"/>
              </a:rPr>
              <a:t>note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Note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@</a:t>
            </a:r>
            <a:r>
              <a:rPr>
                <a:solidFill>
                  <a:srgbClr val="902000"/>
                </a:solidFill>
                <a:latin typeface="Courier"/>
              </a:rPr>
              <a:t>Query</a:t>
            </a:r>
            <a:r>
              <a:rPr>
                <a:latin typeface="Courier"/>
              </a:rPr>
              <a:t>("</a:t>
            </a:r>
            <a:r>
              <a:rPr>
                <a:solidFill>
                  <a:srgbClr val="902000"/>
                </a:solidFill>
                <a:latin typeface="Courier"/>
              </a:rPr>
              <a:t>DELETE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notes</a:t>
            </a:r>
            <a:r>
              <a:rPr>
                <a:latin typeface="Courier"/>
              </a:rPr>
              <a:t>")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suspend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fun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deleteAll</a:t>
            </a:r>
            <a:r>
              <a:rPr>
                <a:latin typeface="Courier"/>
              </a:rPr>
              <a:t>()</a:t>
            </a:r>
            <a:br/>
            <a:r>
              <a:rPr>
                <a:latin typeface="Courier"/>
              </a:rPr>
              <a:t>}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DAO - Conceptos Importantes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Flow vs Suspend</a:t>
            </a:r>
          </a:p>
          <a:p>
            <a:pPr lvl="0" indent="0" marL="0">
              <a:buNone/>
            </a:pPr>
            <a:r>
              <a:rPr b="1"/>
              <a:t>Flow</a:t>
            </a:r>
            <a:r>
              <a:rPr/>
              <a:t>: Observables reactivos - Emite actualizaciones automáticamente - Ideal para consultas que cambian (SELECT) - No requiere </a:t>
            </a:r>
            <a:r>
              <a:rPr>
                <a:latin typeface="Courier"/>
              </a:rPr>
              <a:t>suspend</a:t>
            </a:r>
          </a:p>
          <a:p>
            <a:pPr lvl="0" indent="0" marL="0">
              <a:buNone/>
            </a:pPr>
            <a:r>
              <a:rPr b="1"/>
              <a:t>suspend</a:t>
            </a:r>
            <a:r>
              <a:rPr/>
              <a:t>: Operaciones únicas - Para operaciones de escritura (INSERT, UPDATE, DELETE) - Ejecuta en corrutina - Retorna cuando completa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OnConflictStrategy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@Insert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onConflict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OnConflictStrategy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REPLACE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suspend </a:t>
            </a:r>
            <a:r>
              <a:rPr b="1">
                <a:solidFill>
                  <a:srgbClr val="007020"/>
                </a:solidFill>
                <a:latin typeface="Courier"/>
              </a:rPr>
              <a:t>fun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insert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note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Note</a:t>
            </a:r>
            <a:r>
              <a:rPr>
                <a:solidFill>
                  <a:srgbClr val="666666"/>
                </a:solidFill>
                <a:latin typeface="Courier"/>
              </a:rPr>
              <a:t>):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Long</a:t>
            </a:r>
          </a:p>
          <a:p>
            <a:pPr lvl="0" indent="0" marL="0">
              <a:buNone/>
            </a:pPr>
            <a:r>
              <a:rPr b="1"/>
              <a:t>Estrategias disponibles:</a:t>
            </a:r>
            <a:r>
              <a:rPr/>
              <a:t> - </a:t>
            </a:r>
            <a:r>
              <a:rPr>
                <a:latin typeface="Courier"/>
              </a:rPr>
              <a:t>REPLACE</a:t>
            </a:r>
            <a:r>
              <a:rPr/>
              <a:t>: Reemplaza si existe - </a:t>
            </a:r>
            <a:r>
              <a:rPr>
                <a:latin typeface="Courier"/>
              </a:rPr>
              <a:t>IGNORE</a:t>
            </a:r>
            <a:r>
              <a:rPr/>
              <a:t>: Ignora si existe - </a:t>
            </a:r>
            <a:r>
              <a:rPr>
                <a:latin typeface="Courier"/>
              </a:rPr>
              <a:t>ABORT</a:t>
            </a:r>
            <a:r>
              <a:rPr/>
              <a:t>: Cancela la transacción (default) - </a:t>
            </a:r>
            <a:r>
              <a:rPr>
                <a:latin typeface="Courier"/>
              </a:rPr>
              <a:t>FAIL</a:t>
            </a:r>
            <a:r>
              <a:rPr/>
              <a:t>: Falla pero continúa - </a:t>
            </a:r>
            <a:r>
              <a:rPr>
                <a:latin typeface="Courier"/>
              </a:rPr>
              <a:t>ROLLBACK</a:t>
            </a:r>
            <a:r>
              <a:rPr/>
              <a:t>: Revierte toda la transacción</a:t>
            </a:r>
          </a:p>
          <a:p>
            <a:pPr lvl="0" indent="0" marL="0">
              <a:buNone/>
            </a:pPr>
            <a:r>
              <a:rPr b="1"/>
              <a:t>Decisión:</a:t>
            </a:r>
            <a:r>
              <a:rPr/>
              <a:t> Usamos </a:t>
            </a:r>
            <a:r>
              <a:rPr>
                <a:latin typeface="Courier"/>
              </a:rPr>
              <a:t>REPLACE</a:t>
            </a:r>
            <a:r>
              <a:rPr/>
              <a:t> para evitar crashes por duplicados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Capa de Datos -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NoteDatabase.kt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@Database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entities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Note</a:t>
            </a:r>
            <a:r>
              <a:rPr>
                <a:solidFill>
                  <a:srgbClr val="666666"/>
                </a:solidFill>
                <a:latin typeface="Courier"/>
              </a:rPr>
              <a:t>::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], version = 1)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abstract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NoteDatabase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RoomDatabase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abstract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fun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noteDao</a:t>
            </a:r>
            <a:r>
              <a:rPr>
                <a:solidFill>
                  <a:srgbClr val="666666"/>
                </a:solidFill>
                <a:latin typeface="Courier"/>
              </a:rPr>
              <a:t>():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NoteDao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companion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object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7D9029"/>
                </a:solidFill>
                <a:latin typeface="Courier"/>
              </a:rPr>
              <a:t>@Volatile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INSTANCE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NoteDatabase</a:t>
            </a:r>
            <a:r>
              <a:rPr>
                <a:solidFill>
                  <a:srgbClr val="666666"/>
                </a:solidFill>
                <a:latin typeface="Courier"/>
              </a:rPr>
              <a:t>?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null</a:t>
            </a:r>
            <a:br/>
            <a:r>
              <a:rPr>
                <a:latin typeface="Courier"/>
              </a:rPr>
              <a:t>        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fun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getInstance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context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Context</a:t>
            </a:r>
            <a:r>
              <a:rPr>
                <a:solidFill>
                  <a:srgbClr val="666666"/>
                </a:solidFill>
                <a:latin typeface="Courier"/>
              </a:rPr>
              <a:t>):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NoteDatabase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INSTANCE </a:t>
            </a:r>
            <a:r>
              <a:rPr>
                <a:solidFill>
                  <a:srgbClr val="666666"/>
                </a:solidFill>
                <a:latin typeface="Courier"/>
              </a:rPr>
              <a:t>?:</a:t>
            </a:r>
            <a:r>
              <a:rPr>
                <a:latin typeface="Courier"/>
              </a:rPr>
              <a:t> synchronized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this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    INSTANCE </a:t>
            </a:r>
            <a:r>
              <a:rPr>
                <a:solidFill>
                  <a:srgbClr val="666666"/>
                </a:solidFill>
                <a:latin typeface="Courier"/>
              </a:rPr>
              <a:t>?:</a:t>
            </a:r>
            <a:r>
              <a:rPr>
                <a:latin typeface="Courier"/>
              </a:rPr>
              <a:t> Room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databaseBuilder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                context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applicationContext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        NoteDatabase</a:t>
            </a:r>
            <a:r>
              <a:rPr>
                <a:solidFill>
                  <a:srgbClr val="666666"/>
                </a:solidFill>
                <a:latin typeface="Courier"/>
              </a:rPr>
              <a:t>::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.java,</a:t>
            </a:r>
            <a:br/>
            <a:r>
              <a:rPr>
                <a:latin typeface="Courier"/>
              </a:rPr>
              <a:t>                    "notes.db"</a:t>
            </a:r>
            <a:br/>
            <a:r>
              <a:rPr>
                <a:latin typeface="Courier"/>
              </a:rPr>
              <a:t>                ).build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.also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INSTANCE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it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Singleton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¿Por qué Singleton?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@Volatile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INSTANCE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NoteDatabase</a:t>
            </a:r>
            <a:r>
              <a:rPr>
                <a:solidFill>
                  <a:srgbClr val="666666"/>
                </a:solidFill>
                <a:latin typeface="Courier"/>
              </a:rPr>
              <a:t>?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null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fun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getInstance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context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Context</a:t>
            </a:r>
            <a:r>
              <a:rPr>
                <a:solidFill>
                  <a:srgbClr val="666666"/>
                </a:solidFill>
                <a:latin typeface="Courier"/>
              </a:rPr>
              <a:t>):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NoteDatabase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INSTANCE </a:t>
            </a:r>
            <a:r>
              <a:rPr>
                <a:solidFill>
                  <a:srgbClr val="666666"/>
                </a:solidFill>
                <a:latin typeface="Courier"/>
              </a:rPr>
              <a:t>?:</a:t>
            </a:r>
            <a:r>
              <a:rPr>
                <a:latin typeface="Courier"/>
              </a:rPr>
              <a:t> synchronized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this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INSTANCE </a:t>
            </a:r>
            <a:r>
              <a:rPr>
                <a:solidFill>
                  <a:srgbClr val="666666"/>
                </a:solidFill>
                <a:latin typeface="Courier"/>
              </a:rPr>
              <a:t>?: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/* create 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also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INSTANCE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it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Razones:</a:t>
            </a:r>
            <a:r>
              <a:rPr/>
              <a:t> 1. </a:t>
            </a:r>
            <a:r>
              <a:rPr b="1"/>
              <a:t>Eficiencia</a:t>
            </a:r>
            <a:r>
              <a:rPr/>
              <a:t>: Una sola instancia de BD 2. </a:t>
            </a:r>
            <a:r>
              <a:rPr b="1"/>
              <a:t>Thread-safety</a:t>
            </a:r>
            <a:r>
              <a:rPr/>
              <a:t>: </a:t>
            </a:r>
            <a:r>
              <a:rPr>
                <a:latin typeface="Courier"/>
              </a:rPr>
              <a:t>synchronized</a:t>
            </a:r>
            <a:r>
              <a:rPr/>
              <a:t> + </a:t>
            </a:r>
            <a:r>
              <a:rPr>
                <a:latin typeface="Courier"/>
              </a:rPr>
              <a:t>@Volatile</a:t>
            </a:r>
            <a:r>
              <a:rPr/>
              <a:t> 3. </a:t>
            </a:r>
            <a:r>
              <a:rPr b="1"/>
              <a:t>Consistencia</a:t>
            </a:r>
            <a:r>
              <a:rPr/>
              <a:t>: Todos usan la misma conexión 4. </a:t>
            </a:r>
            <a:r>
              <a:rPr b="1"/>
              <a:t>Double-check locking</a:t>
            </a:r>
            <a:r>
              <a:rPr/>
              <a:t>: Optimización de rendimiento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Repository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NoteRepository.kt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NoteRepository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dao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NoteDao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fun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getAllNotes</a:t>
            </a:r>
            <a:r>
              <a:rPr>
                <a:solidFill>
                  <a:srgbClr val="666666"/>
                </a:solidFill>
                <a:latin typeface="Courier"/>
              </a:rPr>
              <a:t>():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Flow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Note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dao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getAllNotes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fun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getNoteById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Long</a:t>
            </a:r>
            <a:r>
              <a:rPr>
                <a:solidFill>
                  <a:srgbClr val="666666"/>
                </a:solidFill>
                <a:latin typeface="Courier"/>
              </a:rPr>
              <a:t>):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Flow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Note</a:t>
            </a:r>
            <a:r>
              <a:rPr>
                <a:solidFill>
                  <a:srgbClr val="666666"/>
                </a:solidFill>
                <a:latin typeface="Courier"/>
              </a:rPr>
              <a:t>?&gt;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dao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getNoteById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suspend </a:t>
            </a:r>
            <a:r>
              <a:rPr b="1">
                <a:solidFill>
                  <a:srgbClr val="007020"/>
                </a:solidFill>
                <a:latin typeface="Courier"/>
              </a:rPr>
              <a:t>fun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insert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note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Note</a:t>
            </a:r>
            <a:r>
              <a:rPr>
                <a:solidFill>
                  <a:srgbClr val="666666"/>
                </a:solidFill>
                <a:latin typeface="Courier"/>
              </a:rPr>
              <a:t>):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Long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dao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insert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note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suspend </a:t>
            </a:r>
            <a:r>
              <a:rPr b="1">
                <a:solidFill>
                  <a:srgbClr val="007020"/>
                </a:solidFill>
                <a:latin typeface="Courier"/>
              </a:rPr>
              <a:t>fun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update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note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Note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dao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update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note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suspend </a:t>
            </a:r>
            <a:r>
              <a:rPr b="1">
                <a:solidFill>
                  <a:srgbClr val="007020"/>
                </a:solidFill>
                <a:latin typeface="Courier"/>
              </a:rPr>
              <a:t>fun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delete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note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Note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dao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delete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note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suspend </a:t>
            </a:r>
            <a:r>
              <a:rPr b="1">
                <a:solidFill>
                  <a:srgbClr val="007020"/>
                </a:solidFill>
                <a:latin typeface="Courier"/>
              </a:rPr>
              <a:t>fun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deleteAll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dao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deleteAll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Ventajas:</a:t>
            </a:r>
            <a:r>
              <a:rPr/>
              <a:t> - Abstracción de la fuente de datos - Facilita testing (mock repository) - Punto único de acceso a datos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ViewModel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NoteViewModel.kt - Estructura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NoteViewModel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repository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NoteRepository</a:t>
            </a:r>
            <a:br/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ViewModel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allNotes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Flow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Note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repository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getAllNotes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fun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insert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note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Note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viewModelScope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launch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repository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insert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note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... más métodos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Conceptos clave:</a:t>
            </a:r>
            <a:r>
              <a:rPr/>
              <a:t> - Inyección de dependencias (Repository) - </a:t>
            </a:r>
            <a:r>
              <a:rPr>
                <a:latin typeface="Courier"/>
              </a:rPr>
              <a:t>viewModelScope</a:t>
            </a:r>
            <a:r>
              <a:rPr/>
              <a:t>: Corrutinas vinculadas al ciclo de vida - Separación de lógica de negocio y UI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ViewModel Factory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¿Por qué necesitamos Factory?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Factory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context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Context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ViewModelProvider</a:t>
            </a:r>
            <a:r>
              <a:rPr>
                <a:latin typeface="Courier"/>
              </a:rPr>
              <a:t>.</a:t>
            </a:r>
            <a:r>
              <a:rPr>
                <a:solidFill>
                  <a:srgbClr val="902000"/>
                </a:solidFill>
                <a:latin typeface="Courier"/>
              </a:rPr>
              <a:t>Factory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override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fun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ViewModel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create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modelClass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&lt;</a:t>
            </a:r>
            <a:r>
              <a:rPr>
                <a:solidFill>
                  <a:srgbClr val="19177C"/>
                </a:solidFill>
                <a:latin typeface="Courier"/>
              </a:rPr>
              <a:t>T</a:t>
            </a:r>
            <a:r>
              <a:rPr>
                <a:latin typeface="Courier"/>
              </a:rPr>
              <a:t>&gt;</a:t>
            </a:r>
            <a:r>
              <a:rPr>
                <a:solidFill>
                  <a:srgbClr val="666666"/>
                </a:solidFill>
                <a:latin typeface="Courier"/>
              </a:rPr>
              <a:t>):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modelClass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isAssignableFrom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NoteViewModel</a:t>
            </a:r>
            <a:r>
              <a:rPr>
                <a:solidFill>
                  <a:srgbClr val="666666"/>
                </a:solidFill>
                <a:latin typeface="Courier"/>
              </a:rPr>
              <a:t>::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.java))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db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NoteDatabase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getInstance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context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repository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NoteRepository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noteDao</a:t>
            </a:r>
            <a:r>
              <a:rPr>
                <a:solidFill>
                  <a:srgbClr val="666666"/>
                </a:solidFill>
                <a:latin typeface="Courier"/>
              </a:rPr>
              <a:t>())</a:t>
            </a:r>
            <a:br/>
            <a:r>
              <a:rPr>
                <a:latin typeface="Courier"/>
              </a:rPr>
              <a:t>            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7D9029"/>
                </a:solidFill>
                <a:latin typeface="Courier"/>
              </a:rPr>
              <a:t>@Suppress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"UNCHECKED_CAST"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NoteViewModel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repository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T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throw</a:t>
            </a:r>
            <a:r>
              <a:rPr>
                <a:latin typeface="Courier"/>
              </a:rPr>
              <a:t> IllegalArgumentException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"Unknown ViewModel class"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Razón:</a:t>
            </a:r>
            <a:r>
              <a:rPr/>
              <a:t> ViewModels con parámetros necesitan Factory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UI Layer - Jetpack Compose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NoteListScreen.kt - Estructura</a:t>
            </a:r>
          </a:p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@Composable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fun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NoteListScreen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vm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NoteViewModel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onAddNote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Unit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onEditNote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902000"/>
                </a:solidFill>
                <a:latin typeface="Courier"/>
              </a:rPr>
              <a:t>Long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Unit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  <a:br/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notes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vm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allNotes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collectAsState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initial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emptyList</a:t>
            </a:r>
            <a:r>
              <a:rPr>
                <a:solidFill>
                  <a:srgbClr val="666666"/>
                </a:solidFill>
                <a:latin typeface="Courier"/>
              </a:rPr>
              <a:t>())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Scaffold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topBar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/* ... 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padding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notes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isEmpty</a:t>
            </a:r>
            <a:r>
              <a:rPr>
                <a:solidFill>
                  <a:srgbClr val="666666"/>
                </a:solidFill>
                <a:latin typeface="Courier"/>
              </a:rPr>
              <a:t>())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EmptyListMessage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NotesList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notes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onEditNote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13. State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collectAsState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notes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vm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allNotes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collectAsState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initial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emptyList</a:t>
            </a:r>
            <a:r>
              <a:rPr>
                <a:solidFill>
                  <a:srgbClr val="666666"/>
                </a:solidFill>
                <a:latin typeface="Courier"/>
              </a:rPr>
              <a:t>())</a:t>
            </a:r>
          </a:p>
          <a:p>
            <a:pPr lvl="0" indent="0" marL="0">
              <a:buNone/>
            </a:pPr>
            <a:r>
              <a:rPr b="1"/>
              <a:t>¿Qué hace?</a:t>
            </a:r>
            <a:r>
              <a:rPr/>
              <a:t> 1. Convierte </a:t>
            </a:r>
            <a:r>
              <a:rPr>
                <a:latin typeface="Courier"/>
              </a:rPr>
              <a:t>Flow&lt;List&lt;Note&gt;&gt;</a:t>
            </a:r>
            <a:r>
              <a:rPr/>
              <a:t> en </a:t>
            </a:r>
            <a:r>
              <a:rPr>
                <a:latin typeface="Courier"/>
              </a:rPr>
              <a:t>State&lt;List&lt;Note&gt;&gt;</a:t>
            </a:r>
            <a:r>
              <a:rPr/>
              <a:t> 2. Recompone UI automáticamente cuando cambian los datos 3. </a:t>
            </a:r>
            <a:r>
              <a:rPr>
                <a:latin typeface="Courier"/>
              </a:rPr>
              <a:t>by</a:t>
            </a:r>
            <a:r>
              <a:rPr/>
              <a:t>: Delegación de propiedades (acceso directo) 4. </a:t>
            </a:r>
            <a:r>
              <a:rPr>
                <a:latin typeface="Courier"/>
              </a:rPr>
              <a:t>initial</a:t>
            </a:r>
            <a:r>
              <a:rPr/>
              <a:t>: Valor mientras carga</a:t>
            </a:r>
          </a:p>
          <a:p>
            <a:pPr lvl="0" indent="0" marL="0">
              <a:buNone/>
            </a:pPr>
            <a:r>
              <a:rPr b="1"/>
              <a:t>Resultado:</a:t>
            </a:r>
            <a:r>
              <a:rPr/>
              <a:t> UI reactiva sin código manual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14. Composables Reutilizables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@Composable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fun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NoteRow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note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Note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onClick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Unit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onLongClick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Unit</a:t>
            </a:r>
            <a:br/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Surface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i="1">
                <a:solidFill>
                  <a:srgbClr val="60A0B0"/>
                </a:solidFill>
                <a:latin typeface="Courier"/>
              </a:rPr>
              <a:t>/* ... */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Column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        modifier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Modifier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combinedClickable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            onClick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onClick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    onLongClick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onLongClick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Text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note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title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fontWeight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FontWeight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Bold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    Text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note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category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Principio:</a:t>
            </a:r>
            <a:r>
              <a:rPr/>
              <a:t> Componentes pequeños y reutilizables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15. Gestos de Usuario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combinedClickable</a:t>
            </a:r>
          </a:p>
          <a:p>
            <a:pPr lvl="0" indent="0">
              <a:buNone/>
            </a:pPr>
            <a:r>
              <a:rPr>
                <a:latin typeface="Courier"/>
              </a:rPr>
              <a:t>modifier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Modifier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combinedClickable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onClick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onEditNote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note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  onLongClick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onDeleteNote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note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 b="1"/>
              <a:t>Interacciones:</a:t>
            </a:r>
            <a:r>
              <a:rPr/>
              <a:t> - Click: Editar nota - Long press: Mostrar diálogo de eliminación</a:t>
            </a:r>
          </a:p>
          <a:p>
            <a:pPr lvl="0" indent="0" marL="0">
              <a:buNone/>
            </a:pPr>
            <a:r>
              <a:rPr b="1"/>
              <a:t>Alternativa considerada:</a:t>
            </a:r>
            <a:r>
              <a:rPr/>
              <a:t> Swipe-to-delete (más complejo)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16. Diálogos de Confirmación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showDeleteAllDialog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AlertDialog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    onDismissRequest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showDeleteAllDialog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      title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Text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"¿Borrar todas las notas?"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      text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Text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"Esta acción no se puede deshacer."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      confirmButton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Button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onClick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    onClearAll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            showDeleteAllDialog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false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})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Text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"Eliminar todo"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},</a:t>
            </a:r>
            <a:br/>
            <a:r>
              <a:rPr>
                <a:latin typeface="Courier"/>
              </a:rPr>
              <a:t>        dismissButton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Button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onClick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showDeleteAllDialog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    Text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"Cancelar"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17. Validación de Entrada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EditNoteScreen - Snackbar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title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isBlank</a:t>
            </a:r>
            <a:r>
              <a:rPr>
                <a:solidFill>
                  <a:srgbClr val="666666"/>
                </a:solidFill>
                <a:latin typeface="Courier"/>
              </a:rPr>
              <a:t>())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scope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launch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snackbarHostState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showSnackbar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        message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"El título es obligatorio"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withDismissAction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duration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SnackbarDuration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 b="1">
                <a:solidFill>
                  <a:srgbClr val="007020"/>
                </a:solidFill>
                <a:latin typeface="Courier"/>
              </a:rPr>
              <a:t>Short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Guardar nota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UX:</a:t>
            </a:r>
            <a:r>
              <a:rPr/>
              <a:t> Feedback inmediato sin navegación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18. Navegación - Jetpack Navigation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AppNav.kt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object</a:t>
            </a:r>
            <a:r>
              <a:rPr>
                <a:latin typeface="Courier"/>
              </a:rPr>
              <a:t> Routes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"list"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EDIT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"EditaNota"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HELP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"help"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NEW_NOTE_ID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1L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solidFill>
                  <a:srgbClr val="7D9029"/>
                </a:solidFill>
                <a:latin typeface="Courier"/>
              </a:rPr>
              <a:t>@Composable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fun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AppNav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noteViewModel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NoteViewModel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navController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rememberNavController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NavHost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navController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startDestination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Routes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composable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Routes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/* ... 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    composable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BB6688"/>
                </a:solidFill>
                <a:latin typeface="Courier"/>
              </a:rPr>
              <a:t>${</a:t>
            </a:r>
            <a:r>
              <a:rPr>
                <a:latin typeface="Courier"/>
              </a:rPr>
              <a:t>Routes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EDIT</a:t>
            </a:r>
            <a:r>
              <a:rPr>
                <a:solidFill>
                  <a:srgbClr val="BB6688"/>
                </a:solidFill>
                <a:latin typeface="Courier"/>
              </a:rPr>
              <a:t>}</a:t>
            </a:r>
            <a:r>
              <a:rPr>
                <a:solidFill>
                  <a:srgbClr val="4070A0"/>
                </a:solidFill>
                <a:latin typeface="Courier"/>
              </a:rPr>
              <a:t>/{noteId}"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/* ... 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    composable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Routes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HELP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/* ... */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19. Navegación con Argumentos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composable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route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</a:t>
            </a:r>
            <a:r>
              <a:rPr>
                <a:solidFill>
                  <a:srgbClr val="BB6688"/>
                </a:solidFill>
                <a:latin typeface="Courier"/>
              </a:rPr>
              <a:t>${</a:t>
            </a:r>
            <a:r>
              <a:rPr>
                <a:latin typeface="Courier"/>
              </a:rPr>
              <a:t>Routes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EDIT</a:t>
            </a:r>
            <a:r>
              <a:rPr>
                <a:solidFill>
                  <a:srgbClr val="BB6688"/>
                </a:solidFill>
                <a:latin typeface="Courier"/>
              </a:rPr>
              <a:t>}</a:t>
            </a:r>
            <a:r>
              <a:rPr>
                <a:solidFill>
                  <a:srgbClr val="4070A0"/>
                </a:solidFill>
                <a:latin typeface="Courier"/>
              </a:rPr>
              <a:t>/{noteId}"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arguments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listOf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    navArgument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"noteId"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type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NavType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LongType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backStack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noteId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backStack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arguments</a:t>
            </a:r>
            <a:r>
              <a:rPr>
                <a:solidFill>
                  <a:srgbClr val="666666"/>
                </a:solidFill>
                <a:latin typeface="Courier"/>
              </a:rPr>
              <a:t>?.</a:t>
            </a:r>
            <a:r>
              <a:rPr>
                <a:latin typeface="Courier"/>
              </a:rPr>
              <a:t>getLong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"noteId"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?: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0L</a:t>
            </a:r>
            <a:br/>
            <a:r>
              <a:rPr>
                <a:latin typeface="Courier"/>
              </a:rPr>
              <a:t>    EditNoteScreen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    noteId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noteId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Routes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NEW_NOTE_ID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null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noteId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viewModel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noteViewModel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onBack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navController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popBackStack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Decisión:</a:t>
            </a:r>
            <a:r>
              <a:rPr/>
              <a:t> </a:t>
            </a:r>
            <a:r>
              <a:rPr>
                <a:latin typeface="Courier"/>
              </a:rPr>
              <a:t>null</a:t>
            </a:r>
            <a:r>
              <a:rPr/>
              <a:t> = nueva nota, </a:t>
            </a:r>
            <a:r>
              <a:rPr>
                <a:latin typeface="Courier"/>
              </a:rPr>
              <a:t>Long</a:t>
            </a:r>
            <a:r>
              <a:rPr/>
              <a:t> = editar existente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20. Window Insets (Edge-to-Edge)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Problema: Contenido tapado por barras del sistema</a:t>
            </a:r>
          </a:p>
          <a:p>
            <a:pPr lvl="0" indent="0">
              <a:buNone/>
            </a:pPr>
            <a:r>
              <a:rPr>
                <a:latin typeface="Courier"/>
              </a:rPr>
              <a:t>Scaffold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modifier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Modifier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statusBarsPadding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     </a:t>
            </a:r>
            <a:r>
              <a:rPr i="1">
                <a:solidFill>
                  <a:srgbClr val="60A0B0"/>
                </a:solidFill>
                <a:latin typeface="Courier"/>
              </a:rPr>
              <a:t>// Barra superior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navigationBarsPadding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Barra inferior</a:t>
            </a:r>
            <a:br/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padding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br/>
            <a:r>
              <a:rPr>
                <a:latin typeface="Courier"/>
              </a:rPr>
              <a:t>    Column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modifier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Modifier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padding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padding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Contenido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Resultado:</a:t>
            </a:r>
            <a:r>
              <a:rPr/>
              <a:t> UI respeta áreas seguras del sistema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21. LaunchedEffect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Actualización de Estado Asíncrono</a:t>
            </a:r>
          </a:p>
          <a:p>
            <a:pPr lvl="0" indent="0">
              <a:buNone/>
            </a:pPr>
            <a:r>
              <a:rPr>
                <a:latin typeface="Courier"/>
              </a:rPr>
              <a:t>LaunchedEffect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note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note </a:t>
            </a:r>
            <a:r>
              <a:rPr>
                <a:solidFill>
                  <a:srgbClr val="666666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null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title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note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title</a:t>
            </a:r>
            <a:br/>
            <a:r>
              <a:rPr>
                <a:latin typeface="Courier"/>
              </a:rPr>
              <a:t>        category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note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category</a:t>
            </a:r>
            <a:br/>
            <a:r>
              <a:rPr>
                <a:latin typeface="Courier"/>
              </a:rPr>
              <a:t>        content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note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content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¿Cuándo se ejecuta?</a:t>
            </a:r>
            <a:r>
              <a:rPr/>
              <a:t> - Al crear el composable - Cuando </a:t>
            </a:r>
            <a:r>
              <a:rPr>
                <a:latin typeface="Courier"/>
              </a:rPr>
              <a:t>note</a:t>
            </a:r>
            <a:r>
              <a:rPr/>
              <a:t> cambia (key)</a:t>
            </a:r>
          </a:p>
          <a:p>
            <a:pPr lvl="0" indent="0" marL="0">
              <a:buNone/>
            </a:pPr>
            <a:r>
              <a:rPr b="1"/>
              <a:t>Uso:</a:t>
            </a:r>
            <a:r>
              <a:rPr/>
              <a:t> Sincronizar estado con datos cargados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22. Decisiones de Diseño - Resumen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Decisión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Razón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Room Database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Abstracción SQL, type-safe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Reactividad automática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Repository Pattern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Testabilidad, abstracción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MVVM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Separación UI/lógica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Jetpack Compose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UI declarativa moderna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Navigation Component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Navegación type-safe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Coroutines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Operaciones asíncronas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OnConflictStrategy.REPLACE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Evitar crashes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Mejoras Implementadas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Refactorización de Código</a:t>
            </a:r>
          </a:p>
          <a:p>
            <a:pPr lvl="0" indent="-342900" marL="342900">
              <a:buAutoNum type="arabicPeriod"/>
            </a:pPr>
            <a:r>
              <a:rPr/>
              <a:t>✅ </a:t>
            </a:r>
            <a:r>
              <a:rPr b="1"/>
              <a:t>Eliminado Context del ViewModel</a:t>
            </a:r>
          </a:p>
          <a:p>
            <a:pPr lvl="1"/>
            <a:r>
              <a:rPr/>
              <a:t>Antes: </a:t>
            </a:r>
            <a:r>
              <a:rPr>
                <a:latin typeface="Courier"/>
              </a:rPr>
              <a:t>NoteViewModel(context: Context)</a:t>
            </a:r>
          </a:p>
          <a:p>
            <a:pPr lvl="1"/>
            <a:r>
              <a:rPr/>
              <a:t>Después: </a:t>
            </a:r>
            <a:r>
              <a:rPr>
                <a:latin typeface="Courier"/>
              </a:rPr>
              <a:t>NoteViewModel(repository: NoteRepository)</a:t>
            </a:r>
          </a:p>
          <a:p>
            <a:pPr lvl="1"/>
            <a:r>
              <a:rPr/>
              <a:t>Razón: Evitar memory leaks</a:t>
            </a:r>
          </a:p>
          <a:p>
            <a:pPr lvl="0" indent="-342900" marL="342900">
              <a:buAutoNum type="arabicPeriod"/>
            </a:pPr>
            <a:r>
              <a:rPr/>
              <a:t>✅ </a:t>
            </a:r>
            <a:r>
              <a:rPr b="1"/>
              <a:t>Inyección de Repository</a:t>
            </a:r>
          </a:p>
          <a:p>
            <a:pPr lvl="1"/>
            <a:r>
              <a:rPr/>
              <a:t>Mejor testabilidad</a:t>
            </a:r>
          </a:p>
          <a:p>
            <a:pPr lvl="1"/>
            <a:r>
              <a:rPr/>
              <a:t>Separación de responsabilidades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24. Mejoras Implementadas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startAt="3" type="arabicPeriod"/>
            </a:pPr>
            <a:r>
              <a:rPr/>
              <a:t>✅ </a:t>
            </a:r>
            <a:r>
              <a:rPr b="1"/>
              <a:t>OnConflictStrategy en DAO</a:t>
            </a:r>
          </a:p>
          <a:p>
            <a:pPr lvl="1" indent="0">
              <a:buNone/>
            </a:pPr>
            <a:r>
              <a:rPr>
                <a:solidFill>
                  <a:srgbClr val="7D9029"/>
                </a:solidFill>
                <a:latin typeface="Courier"/>
              </a:rPr>
              <a:t>@Insert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onConflict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OnConflictStrategy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REPLACE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  <a:p>
            <a:pPr lvl="1"/>
            <a:r>
              <a:rPr/>
              <a:t>Manejo robusto de duplicados</a:t>
            </a:r>
          </a:p>
          <a:p>
            <a:pPr lvl="0" indent="-342900" marL="342900">
              <a:buAutoNum startAt="3" type="arabicPeriod"/>
            </a:pPr>
            <a:r>
              <a:rPr/>
              <a:t>✅ </a:t>
            </a:r>
            <a:r>
              <a:rPr b="1"/>
              <a:t>Constantes en lugar de números mágicos</a:t>
            </a:r>
          </a:p>
          <a:p>
            <a:pPr lvl="1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NEW_NOTE_ID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1L</a:t>
            </a:r>
          </a:p>
          <a:p>
            <a:pPr lvl="1"/>
            <a:r>
              <a:rPr/>
              <a:t>Código autodocumentado</a:t>
            </a:r>
          </a:p>
          <a:p>
            <a:pPr lvl="0" indent="-342900" marL="342900">
              <a:buAutoNum startAt="3" type="arabicPeriod"/>
            </a:pPr>
            <a:r>
              <a:rPr/>
              <a:t>✅ </a:t>
            </a:r>
            <a:r>
              <a:rPr b="1"/>
              <a:t>Consistencia en nombres de paquetes</a:t>
            </a:r>
          </a:p>
          <a:p>
            <a:pPr lvl="1"/>
            <a:r>
              <a:rPr/>
              <a:t>Todo bajo </a:t>
            </a:r>
            <a:r>
              <a:rPr>
                <a:latin typeface="Courier"/>
              </a:rPr>
              <a:t>es.upm.ging.notas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25. Flujo de Datos Completo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Insertar Nueva Nota</a:t>
            </a:r>
          </a:p>
          <a:p>
            <a:pPr lvl="0" indent="0">
              <a:buNone/>
            </a:pPr>
            <a:r>
              <a:rPr>
                <a:latin typeface="Courier"/>
              </a:rPr>
              <a:t>1. Usuario escribe en EditNoteScreen
2. Click en "Guardar"
3. EditNoteScreen llama viewModel.insert(note)
4. ViewModel lanza corrutina
5. Repository.insert(note)
6. DAO.insert(note) → Room escribe en SQLite
7. Flow&lt;List&lt;Note&gt;&gt; emite nueva lista
8. NoteListScreen recompone automáticamente
9. Nueva nota aparece en la lista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26. Ciclo de Vida y Corrutinas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fun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insert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note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Note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viewModelScope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launch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repository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insert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note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viewModelScope:</a:t>
            </a:r>
            <a:r>
              <a:rPr/>
              <a:t> - Se cancela automáticamente cuando ViewModel se destruye - Evita memory leaks - No necesita cancelación manual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27. Testing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Arquitectura Testeable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Unit test del Repository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NoteRepositoryTest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@Test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fun</a:t>
            </a:r>
            <a:r>
              <a:rPr>
                <a:latin typeface="Courier"/>
              </a:rPr>
              <a:t> `</a:t>
            </a:r>
            <a:r>
              <a:rPr>
                <a:solidFill>
                  <a:srgbClr val="06287E"/>
                </a:solidFill>
                <a:latin typeface="Courier"/>
              </a:rPr>
              <a:t>insert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note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returns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id</a:t>
            </a:r>
            <a:r>
              <a:rPr>
                <a:latin typeface="Courier"/>
              </a:rPr>
              <a:t>`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runTest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mockDao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mock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NoteDao</a:t>
            </a:r>
            <a:r>
              <a:rPr>
                <a:solidFill>
                  <a:srgbClr val="666666"/>
                </a:solidFill>
                <a:latin typeface="Courier"/>
              </a:rPr>
              <a:t>&gt;()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repository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NoteRepository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mockDao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br/>
            <a:r>
              <a:rPr>
                <a:latin typeface="Courier"/>
              </a:rPr>
              <a:t>        whenever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mockDao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insert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any</a:t>
            </a:r>
            <a:r>
              <a:rPr>
                <a:solidFill>
                  <a:srgbClr val="666666"/>
                </a:solidFill>
                <a:latin typeface="Courier"/>
              </a:rPr>
              <a:t>())).</a:t>
            </a:r>
            <a:r>
              <a:rPr>
                <a:latin typeface="Courier"/>
              </a:rPr>
              <a:t>thenReturn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1L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result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repository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insert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testNote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assertEquals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result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Ventaja:</a:t>
            </a:r>
            <a:r>
              <a:rPr/>
              <a:t> Repository pattern facilita mocking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28. Mejores Prácticas Aplicadas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Single Responsibility Principle</a:t>
            </a:r>
          </a:p>
          <a:p>
            <a:pPr lvl="1"/>
            <a:r>
              <a:rPr/>
              <a:t>Cada clase tiene una responsabilidad clara</a:t>
            </a:r>
          </a:p>
          <a:p>
            <a:pPr lvl="0" indent="-342900" marL="342900">
              <a:buAutoNum type="arabicPeriod"/>
            </a:pPr>
            <a:r>
              <a:rPr b="1"/>
              <a:t>Dependency Injection</a:t>
            </a:r>
          </a:p>
          <a:p>
            <a:pPr lvl="1"/>
            <a:r>
              <a:rPr/>
              <a:t>Repository inyectado en ViewModel</a:t>
            </a:r>
          </a:p>
          <a:p>
            <a:pPr lvl="0" indent="-342900" marL="342900">
              <a:buAutoNum type="arabicPeriod"/>
            </a:pPr>
            <a:r>
              <a:rPr b="1"/>
              <a:t>Immutability</a:t>
            </a:r>
          </a:p>
          <a:p>
            <a:pPr lvl="1"/>
            <a:r>
              <a:rPr>
                <a:latin typeface="Courier"/>
              </a:rPr>
              <a:t>data class</a:t>
            </a:r>
            <a:r>
              <a:rPr/>
              <a:t> con </a:t>
            </a:r>
            <a:r>
              <a:rPr>
                <a:latin typeface="Courier"/>
              </a:rPr>
              <a:t>val</a:t>
            </a:r>
          </a:p>
          <a:p>
            <a:pPr lvl="0" indent="-342900" marL="342900">
              <a:buAutoNum type="arabicPeriod"/>
            </a:pPr>
            <a:r>
              <a:rPr b="1"/>
              <a:t>Reactive Programming</a:t>
            </a:r>
          </a:p>
          <a:p>
            <a:pPr lvl="1"/>
            <a:r>
              <a:rPr/>
              <a:t>Flow para datos reactivos</a:t>
            </a:r>
          </a:p>
          <a:p>
            <a:pPr lvl="0" indent="-342900" marL="342900">
              <a:buAutoNum type="arabicPeriod"/>
            </a:pPr>
            <a:r>
              <a:rPr b="1"/>
              <a:t>Separation of Concerns</a:t>
            </a:r>
          </a:p>
          <a:p>
            <a:pPr lvl="1"/>
            <a:r>
              <a:rPr/>
              <a:t>UI, ViewModel, Repository, DAO separados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29. Posibles Extensiones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Mejoras Futuras</a:t>
            </a:r>
          </a:p>
          <a:p>
            <a:pPr lvl="0" indent="-342900" marL="342900">
              <a:buAutoNum type="arabicPeriod"/>
            </a:pPr>
            <a:r>
              <a:rPr b="1"/>
              <a:t>Hilt/Dagger</a:t>
            </a:r>
            <a:r>
              <a:rPr/>
              <a:t> para DI automática</a:t>
            </a:r>
          </a:p>
          <a:p>
            <a:pPr lvl="0" indent="-342900" marL="342900">
              <a:buAutoNum type="arabicPeriod"/>
            </a:pPr>
            <a:r>
              <a:rPr b="1"/>
              <a:t>StateFlow</a:t>
            </a:r>
            <a:r>
              <a:rPr/>
              <a:t> para mejor gestión de estado UI</a:t>
            </a:r>
          </a:p>
          <a:p>
            <a:pPr lvl="0" indent="-342900" marL="342900">
              <a:buAutoNum type="arabicPeriod"/>
            </a:pPr>
            <a:r>
              <a:rPr b="1"/>
              <a:t>Error handling</a:t>
            </a:r>
            <a:r>
              <a:rPr/>
              <a:t> con sealed classes</a:t>
            </a:r>
          </a:p>
          <a:p>
            <a:pPr lvl="0" indent="-342900" marL="342900">
              <a:buAutoNum type="arabicPeriod"/>
            </a:pPr>
            <a:r>
              <a:rPr b="1"/>
              <a:t>Paging 3</a:t>
            </a:r>
            <a:r>
              <a:rPr/>
              <a:t> para listas grandes</a:t>
            </a:r>
          </a:p>
          <a:p>
            <a:pPr lvl="0" indent="-342900" marL="342900">
              <a:buAutoNum type="arabicPeriod"/>
            </a:pPr>
            <a:r>
              <a:rPr b="1"/>
              <a:t>WorkManager</a:t>
            </a:r>
            <a:r>
              <a:rPr/>
              <a:t> para sincronización</a:t>
            </a:r>
          </a:p>
          <a:p>
            <a:pPr lvl="0" indent="-342900" marL="342900">
              <a:buAutoNum type="arabicPeriod"/>
            </a:pPr>
            <a:r>
              <a:rPr b="1"/>
              <a:t>DataStore</a:t>
            </a:r>
            <a:r>
              <a:rPr/>
              <a:t> para preferencias</a:t>
            </a:r>
          </a:p>
          <a:p>
            <a:pPr lvl="0" indent="-342900" marL="342900">
              <a:buAutoNum type="arabicPeriod"/>
            </a:pPr>
            <a:r>
              <a:rPr b="1"/>
              <a:t>Testing</a:t>
            </a:r>
            <a:r>
              <a:rPr/>
              <a:t> completo (Unit + UI)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30. Recursos y Referencias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Documentación Oficial</a:t>
            </a:r>
          </a:p>
          <a:p>
            <a:pPr lvl="0"/>
            <a:r>
              <a:rPr>
                <a:hlinkClick r:id="rId2"/>
              </a:rPr>
              <a:t>Room Database</a:t>
            </a:r>
          </a:p>
          <a:p>
            <a:pPr lvl="0"/>
            <a:r>
              <a:rPr>
                <a:hlinkClick r:id="rId3"/>
              </a:rPr>
              <a:t>Jetpack Compose</a:t>
            </a:r>
          </a:p>
          <a:p>
            <a:pPr lvl="0"/>
            <a:r>
              <a:rPr>
                <a:hlinkClick r:id="rId4"/>
              </a:rPr>
              <a:t>Navigation Component</a:t>
            </a:r>
          </a:p>
          <a:p>
            <a:pPr lvl="0"/>
            <a:r>
              <a:rPr>
                <a:hlinkClick r:id="rId5"/>
              </a:rPr>
              <a:t>Kotlin Coroutines</a:t>
            </a:r>
          </a:p>
          <a:p>
            <a:pPr lvl="0"/>
            <a:r>
              <a:rPr>
                <a:hlinkClick r:id="rId6"/>
              </a:rPr>
              <a:t>MVVM Architecture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¡Gracias!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Preguntas</a:t>
            </a:r>
          </a:p>
          <a:p>
            <a:pPr lvl="0" indent="0" marL="0">
              <a:buNone/>
            </a:pPr>
            <a:r>
              <a:rPr b="1"/>
              <a:t>Repositorio:</a:t>
            </a:r>
            <a:r>
              <a:rPr/>
              <a:t> NotesApp</a:t>
            </a:r>
            <a:br/>
            <a:r>
              <a:rPr b="1"/>
              <a:t>Arquitectura:</a:t>
            </a:r>
            <a:r>
              <a:rPr/>
              <a:t> MVVM + Repository Pattern</a:t>
            </a:r>
            <a:br/>
            <a:r>
              <a:rPr b="1"/>
              <a:t>Stack:</a:t>
            </a:r>
            <a:r>
              <a:rPr/>
              <a:t> Kotlin, Jetpack Compose, Room, Coroutines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2025-11-27T09:02:31Z</dcterms:created>
  <dcterms:modified xsi:type="dcterms:W3CDTF">2025-11-27T09:02:31Z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